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>
              <a:srgbClr val="087E8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73040"/>
              </a:solidFill>
            </c:spPr>
            <c:extLst>
              <c:ext xmlns:c16="http://schemas.microsoft.com/office/drawing/2014/chart" uri="{C3380CC4-5D6E-409C-BE32-E72D297353CC}">
                <c16:uniqueId val="{00000001-5E93-4C33-B2A1-E77E1854FC0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E93-4C33-B2A1-E77E1854FC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04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Class 0</c:v>
                </c:pt>
                <c:pt idx="1">
                  <c:v>Class 1</c:v>
                </c:pt>
              </c:strCache>
            </c:strRef>
          </c:cat>
          <c:val>
            <c:numRef>
              <c:f>'Chart Data'!$B$2:$B$3</c:f>
              <c:numCache>
                <c:formatCode>0.00"%"</c:formatCode>
                <c:ptCount val="2"/>
                <c:pt idx="0">
                  <c:v>51.72</c:v>
                </c:pt>
                <c:pt idx="1">
                  <c:v>7.62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E93-4C33-B2A1-E77E1854FC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DDE5E8"/>
              </a:solidFill>
            </a:ln>
          </c:spPr>
        </c:majorGridlines>
        <c:numFmt formatCode="0.0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>
              <a:srgbClr val="087E8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73040"/>
              </a:solidFill>
            </c:spPr>
            <c:extLst>
              <c:ext xmlns:c16="http://schemas.microsoft.com/office/drawing/2014/chart" uri="{C3380CC4-5D6E-409C-BE32-E72D297353CC}">
                <c16:uniqueId val="{00000001-33F8-4A16-9491-1B5D1A7DC09D}"/>
              </c:ext>
            </c:extLst>
          </c:dPt>
          <c:dPt>
            <c:idx val="1"/>
            <c:invertIfNegative val="0"/>
            <c:bubble3D val="0"/>
            <c:spPr>
              <a:solidFill>
                <a:srgbClr val="91A5AF"/>
              </a:solidFill>
            </c:spPr>
            <c:extLst>
              <c:ext xmlns:c16="http://schemas.microsoft.com/office/drawing/2014/chart" uri="{C3380CC4-5D6E-409C-BE32-E72D297353CC}">
                <c16:uniqueId val="{00000003-33F8-4A16-9491-1B5D1A7DC0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3F8-4A16-9491-1B5D1A7DC0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04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RoBERTa</c:v>
                </c:pt>
                <c:pt idx="1">
                  <c:v>ResNet-50</c:v>
                </c:pt>
                <c:pt idx="2">
                  <c:v>Late fusion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0.8</c:v>
                </c:pt>
                <c:pt idx="1">
                  <c:v>0.72750000000000004</c:v>
                </c:pt>
                <c:pt idx="2">
                  <c:v>0.81879999999999997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33F8-4A16-9491-1B5D1A7DC0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5E8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>
              <a:srgbClr val="087E8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73040"/>
              </a:solidFill>
            </c:spPr>
            <c:extLst>
              <c:ext xmlns:c16="http://schemas.microsoft.com/office/drawing/2014/chart" uri="{C3380CC4-5D6E-409C-BE32-E72D297353CC}">
                <c16:uniqueId val="{00000001-136B-4BA2-BF49-2E0EE6A790B5}"/>
              </c:ext>
            </c:extLst>
          </c:dPt>
          <c:dPt>
            <c:idx val="1"/>
            <c:invertIfNegative val="0"/>
            <c:bubble3D val="0"/>
            <c:spPr>
              <a:solidFill>
                <a:srgbClr val="91A5AF"/>
              </a:solidFill>
            </c:spPr>
            <c:extLst>
              <c:ext xmlns:c16="http://schemas.microsoft.com/office/drawing/2014/chart" uri="{C3380CC4-5D6E-409C-BE32-E72D297353CC}">
                <c16:uniqueId val="{00000003-136B-4BA2-BF49-2E0EE6A790B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6B-4BA2-BF49-2E0EE6A790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04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RoBERTa</c:v>
                </c:pt>
                <c:pt idx="1">
                  <c:v>ResNet-50</c:v>
                </c:pt>
                <c:pt idx="2">
                  <c:v>Late fusion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0.75960000000000005</c:v>
                </c:pt>
                <c:pt idx="1">
                  <c:v>0.67710000000000004</c:v>
                </c:pt>
                <c:pt idx="2">
                  <c:v>0.67710000000000004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36B-4BA2-BF49-2E0EE6A790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DE5E8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3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84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6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6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9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8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90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039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2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8097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9/22/2026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2226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562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35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9/22/2026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83555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9/22/2026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66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7343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316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783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41077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3957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6060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46196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5593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27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68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1354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4586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5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395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925235-4025-41DA-9442-08645BC68FF8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Multimodal Fake</a:t>
            </a:r>
          </a:p>
          <a:p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News Detection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ED6C2E-E9C2-4E17-BC87-E7CBC3ADC44D}"/>
              </a:ext>
            </a:extLst>
          </p:cNvPr>
          <p:cNvSpPr>
            <a:spLocks noGrp="1"/>
          </p:cNvSpPr>
          <p:nvPr/>
        </p:nvSpPr>
        <p:spPr>
          <a:xfrm>
            <a:off x="800100" y="3476625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C1E2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1E2E5"/>
                </a:solidFill>
                <a:latin typeface="Arial"/>
                <a:ea typeface="Arial"/>
                <a:cs typeface="Arial"/>
              </a:rPr>
              <a:t>A comparison of text, image and fusion models on Fakeddit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2F84C-97E9-46C7-8673-8CD8FF50DBE3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6191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Ali Abdulzahra</a:t>
            </a:r>
          </a:p>
          <a:p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MSc Data Science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4FE56-D059-426D-A9A6-5E48024CD6B3}"/>
              </a:ext>
            </a:extLst>
          </p:cNvPr>
          <p:cNvSpPr>
            <a:spLocks noGrp="1"/>
          </p:cNvSpPr>
          <p:nvPr/>
        </p:nvSpPr>
        <p:spPr>
          <a:xfrm>
            <a:off x="8001000" y="482917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C1E2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E2E5"/>
                </a:solidFill>
                <a:latin typeface="Arial"/>
                <a:ea typeface="Arial"/>
                <a:cs typeface="Arial"/>
              </a:rPr>
              <a:t>Professor Jialie Shen</a:t>
            </a:r>
          </a:p>
          <a:p>
            <a:pPr>
              <a:defRPr sz="1650" b="0">
                <a:solidFill>
                  <a:srgbClr val="C1E2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E2E5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19989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B95AA7-E5E7-44A2-A4D4-41B78187DCEA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Aim and research questions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799ED-6C7E-46B7-8781-F291A27A1151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DCC109-CFA2-459C-AE64-2FFFFC6BAD49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Fakeddit labels come from subreddit rules. They are not independently verified factual judgements.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8246D-5E83-4F5E-851F-BBFD3EB04B2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Does combining text and images improve classification over text alone?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10031-0055-4A9E-BD19-8F88CB5B75F4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Compare the modalities on the same posts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E77AF-D794-4718-B2A0-8043AFC98B0B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Test fusion gains and probability calibration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56E2E-2B70-4CF3-80B6-0139F5DB67ED}"/>
              </a:ext>
            </a:extLst>
          </p:cNvPr>
          <p:cNvSpPr>
            <a:spLocks noGrp="1"/>
          </p:cNvSpPr>
          <p:nvPr/>
        </p:nvSpPr>
        <p:spPr>
          <a:xfrm>
            <a:off x="762000" y="43529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Examine leakage, selection bias and unseen sources</a:t>
            </a:r>
          </a:p>
        </p:txBody>
      </p:sp>
    </p:spTree>
    <p:extLst>
      <p:ext uri="{BB962C8B-B14F-4D97-AF65-F5344CB8AC3E}">
        <p14:creationId xmlns:p14="http://schemas.microsoft.com/office/powerpoint/2010/main" val="158701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46BF92-ED98-43F1-AD5E-504BC166305B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Models and fusion methods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AB1E8-7E60-4E19-AC04-A5EFC0C2E1EE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222A3-DA1A-41AC-88E5-9BF7349820BD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Ordinary fusion weights selected on validation data.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762000" y="1657350"/>
          <a:ext cx="10668000" cy="3619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Text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RoBERTa base, maximum 64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Image baseline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ResNet-50, 224 × 224 RGB images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Feature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768 text + 2,048 image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Linear ablation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Text, image and concatenated probes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Late probability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0.45 × text + 0.55 ×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92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0565B2-B257-4120-94DB-6785A37699D2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Dataset audit and image cleaning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C18878-2F40-4E6E-B03D-00E71CFAA21D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E3E0F-5681-4757-9A31-AC159CD1FE83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Training sample. Class 0 = fake/misleading. Class 1 = true-labelled content.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61D0F-8552-44D4-91B2-5A1B536DD92B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Training posts removed during image cleaning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762000" y="2114550"/>
          <a:ext cx="7048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A29C65B-2E55-41C2-8519-0B8DCDE54964}"/>
              </a:ext>
            </a:extLst>
          </p:cNvPr>
          <p:cNvSpPr>
            <a:spLocks noGrp="1"/>
          </p:cNvSpPr>
          <p:nvPr/>
        </p:nvSpPr>
        <p:spPr>
          <a:xfrm>
            <a:off x="8572500" y="2066925"/>
            <a:ext cx="2857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7,429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3B74E-CCB2-4A63-8D62-BAF3380E511C}"/>
              </a:ext>
            </a:extLst>
          </p:cNvPr>
          <p:cNvSpPr>
            <a:spLocks noGrp="1"/>
          </p:cNvSpPr>
          <p:nvPr/>
        </p:nvSpPr>
        <p:spPr>
          <a:xfrm>
            <a:off x="8572500" y="3000375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copies of one regional</a:t>
            </a:r>
          </a:p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placeholder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421A56-0238-4BC5-BD5B-6B27F815687E}"/>
              </a:ext>
            </a:extLst>
          </p:cNvPr>
          <p:cNvSpPr>
            <a:spLocks noGrp="1"/>
          </p:cNvSpPr>
          <p:nvPr/>
        </p:nvSpPr>
        <p:spPr>
          <a:xfrm>
            <a:off x="8572500" y="4162425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All belonged to class 0</a:t>
            </a:r>
          </a:p>
        </p:txBody>
      </p:sp>
    </p:spTree>
    <p:extLst>
      <p:ext uri="{BB962C8B-B14F-4D97-AF65-F5344CB8AC3E}">
        <p14:creationId xmlns:p14="http://schemas.microsoft.com/office/powerpoint/2010/main" val="184769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F46EC6-AD82-4C88-86CC-6051882955FF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2F9E21-2123-4B48-AB2A-3C379CDFAA8C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D2C268-21B1-48AD-8A1F-7D54F695AA8A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Source disjoint repartitions the cleaned development pool. Each experiment uses its own validation selection.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762000" y="1657350"/>
          <a:ext cx="10668000" cy="314325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Cleaned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13,129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1,962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1,965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Ordinary final holdout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Fixed models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Fixed settings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Source disjoint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10,524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3,793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2,739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Source communities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5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E9E145-A523-4134-B8C6-3D2102F79ABC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Demonstration of saved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B734FD-3362-43BB-802E-9E8A23BEC19A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429DE-ACD7-4BAB-BCBB-975DE54E908D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56773"/>
                </a:solidFill>
                <a:latin typeface="Arial"/>
                <a:ea typeface="Arial"/>
                <a:cs typeface="Arial"/>
              </a:rPr>
              <a:t>Read-only demonstration. No training or model selection.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E42EC-4443-485D-882B-E9C503FAE988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Recompute metrics from the recorded predictions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EF4B5-8A7B-4F30-97F8-674D7A871429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0763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python tools/verify_saved_results.py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BEE3F-2C18-4B4B-8A3B-506B1FFCF02E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Check evidence fingerprints and case identifiers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3A070-4439-473A-8999-134206C7740E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Check fusion probabilities and the 0.50 threshold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56A429-E7A9-4566-A901-25DD413EA4BE}"/>
              </a:ext>
            </a:extLst>
          </p:cNvPr>
          <p:cNvSpPr>
            <a:spLocks noGrp="1"/>
          </p:cNvSpPr>
          <p:nvPr/>
        </p:nvSpPr>
        <p:spPr>
          <a:xfrm>
            <a:off x="762000" y="48958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Rebuild confusion matrices, accuracy and macro F1</a:t>
            </a:r>
          </a:p>
        </p:txBody>
      </p:sp>
    </p:spTree>
    <p:extLst>
      <p:ext uri="{BB962C8B-B14F-4D97-AF65-F5344CB8AC3E}">
        <p14:creationId xmlns:p14="http://schemas.microsoft.com/office/powerpoint/2010/main" val="199946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743EDC-AA00-439B-B172-42A2B3C29589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Validation-only fusion selection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A3602-22B9-43EF-8B00-E0CFA4886544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3AC6E-665F-4CDF-86F1-939C76FAFD57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Ordinary selection uses validation macro F1, a 0.05 grid and a fixed 0.50 classification threshold.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CDFA23-50F4-4CD6-AE12-E561BBBB6BEC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p(fusion) = α × p(text) + (1 − α) × p(image)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FF6C5B-E85C-454B-9F04-32E5D0ACD6F5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90622-3166-43A3-87D4-C0667E5D17EF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52863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Join predictions by post ID</a:t>
            </a:r>
          </a:p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Check that labels agree</a:t>
            </a:r>
          </a:p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Search α from 0.00 to 1.00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E292A-CB79-4CA1-824B-52A0085F8A10}"/>
              </a:ext>
            </a:extLst>
          </p:cNvPr>
          <p:cNvSpPr>
            <a:spLocks noGrp="1"/>
          </p:cNvSpPr>
          <p:nvPr/>
        </p:nvSpPr>
        <p:spPr>
          <a:xfrm>
            <a:off x="6858000" y="29908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F4B8F-37FF-4C19-A279-788831D7389A}"/>
              </a:ext>
            </a:extLst>
          </p:cNvPr>
          <p:cNvSpPr>
            <a:spLocks noGrp="1"/>
          </p:cNvSpPr>
          <p:nvPr/>
        </p:nvSpPr>
        <p:spPr>
          <a:xfrm>
            <a:off x="6858000" y="3676650"/>
            <a:ext cx="44767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Use the selected weight</a:t>
            </a:r>
          </a:p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Apply the same threshold</a:t>
            </a:r>
          </a:p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Record final predictions</a:t>
            </a:r>
          </a:p>
        </p:txBody>
      </p:sp>
    </p:spTree>
    <p:extLst>
      <p:ext uri="{BB962C8B-B14F-4D97-AF65-F5344CB8AC3E}">
        <p14:creationId xmlns:p14="http://schemas.microsoft.com/office/powerpoint/2010/main" val="68694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709C3D-719E-4699-9E9F-A953550D013D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Development comparisons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C31B5-454D-4B41-B44D-2D08D6000DFC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943A2-F92A-4DEA-AE79-0B4BED6BE3F3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Development test: 1,965 posts. Tuned MLP validation results are a separate comparison.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762000" y="1657350"/>
          <a:ext cx="10668000" cy="361950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Development-test macro F1</a:t>
                      </a:r>
                    </a:p>
                  </a:txBody>
                  <a:tcPr>
                    <a:solidFill>
                      <a:srgbClr val="17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RoBERTa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0.8145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ResNet-50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0.7278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Initial feature-fusion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0.8157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Linear text / concatenated probes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0.8097 / 0.8080</a:t>
                      </a:r>
                    </a:p>
                  </a:txBody>
                  <a:tcP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Late probability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040"/>
                          </a:solidFill>
                          <a:latin typeface="Arial"/>
                          <a:ea typeface="Arial"/>
                          <a:cs typeface="Arial"/>
                        </a:rPr>
                        <a:t>0.8344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073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C37EDA-4C24-4024-979E-BDBF45B8D72F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Ordinary final holdout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8DB875-CAA2-4D6E-AE59-2FFD981872F4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5AB645-9B53-4B90-AFFF-6625150B2757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Macro F1 difference +0.0188. Paired 95% interval [0.0084, 0.0290].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5D255D-7EBB-4FB6-A0E8-A7B5D3B03D0F}"/>
              </a:ext>
            </a:extLst>
          </p:cNvPr>
          <p:cNvSpPr>
            <a:spLocks noGrp="1"/>
          </p:cNvSpPr>
          <p:nvPr/>
        </p:nvSpPr>
        <p:spPr>
          <a:xfrm>
            <a:off x="762000" y="1409700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Macro F1 on 5,000 posts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762000" y="1809750"/>
          <a:ext cx="6953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1AF0A95-7D86-4ACA-802B-504E577A2C24}"/>
              </a:ext>
            </a:extLst>
          </p:cNvPr>
          <p:cNvSpPr>
            <a:spLocks noGrp="1"/>
          </p:cNvSpPr>
          <p:nvPr/>
        </p:nvSpPr>
        <p:spPr>
          <a:xfrm>
            <a:off x="8572500" y="1933575"/>
            <a:ext cx="266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350C73-707C-4EE5-BAE4-EF8ED0253CEA}"/>
              </a:ext>
            </a:extLst>
          </p:cNvPr>
          <p:cNvSpPr>
            <a:spLocks noGrp="1"/>
          </p:cNvSpPr>
          <p:nvPr/>
        </p:nvSpPr>
        <p:spPr>
          <a:xfrm>
            <a:off x="8572500" y="282892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additional correct</a:t>
            </a:r>
          </a:p>
          <a:p>
            <a:pPr>
              <a:defRPr sz="21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16E5F-DF61-4C5A-AC68-084641A35AA4}"/>
              </a:ext>
            </a:extLst>
          </p:cNvPr>
          <p:cNvSpPr>
            <a:spLocks noGrp="1"/>
          </p:cNvSpPr>
          <p:nvPr/>
        </p:nvSpPr>
        <p:spPr>
          <a:xfrm>
            <a:off x="8572500" y="4038600"/>
            <a:ext cx="2809875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McNemar p = 0.000138</a:t>
            </a:r>
          </a:p>
          <a:p>
            <a:endParaRPr sz="1800" b="0">
              <a:solidFill>
                <a:srgbClr val="556773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Lower Brier score,</a:t>
            </a:r>
          </a:p>
          <a:p>
            <a:pPr>
              <a:defRPr sz="18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log loss and ECE</a:t>
            </a:r>
          </a:p>
        </p:txBody>
      </p:sp>
    </p:spTree>
    <p:extLst>
      <p:ext uri="{BB962C8B-B14F-4D97-AF65-F5344CB8AC3E}">
        <p14:creationId xmlns:p14="http://schemas.microsoft.com/office/powerpoint/2010/main" val="32146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725454-CCC0-40D0-A29F-AD92660C2C16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Source-disjoint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D1758-F7F4-4497-B172-901458C2D2DC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164156-401E-48E0-A01C-ECE7578A6A41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Fusion minus RoBERTa: −0.0825. Paired 95% interval [−0.1054, −0.0593].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F04D4-BB60-4349-8C47-4D45E0E630C8}"/>
              </a:ext>
            </a:extLst>
          </p:cNvPr>
          <p:cNvSpPr>
            <a:spLocks noGrp="1"/>
          </p:cNvSpPr>
          <p:nvPr/>
        </p:nvSpPr>
        <p:spPr>
          <a:xfrm>
            <a:off x="762000" y="1409700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Macro F1 on 2,739 posts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762000" y="1809750"/>
          <a:ext cx="6953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2E54630-4FC6-4FB6-A9A8-2D26E407BAA3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3048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Text weight 0.00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2E8609-3017-462B-9522-38D018C74AE1}"/>
              </a:ext>
            </a:extLst>
          </p:cNvPr>
          <p:cNvSpPr>
            <a:spLocks noGrp="1"/>
          </p:cNvSpPr>
          <p:nvPr/>
        </p:nvSpPr>
        <p:spPr>
          <a:xfrm>
            <a:off x="8477250" y="300990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Validation selected</a:t>
            </a:r>
          </a:p>
          <a:p>
            <a:pPr>
              <a:defRPr sz="2025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image-only predictions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292BB-6763-49C6-A5C8-4BBF4174F87A}"/>
              </a:ext>
            </a:extLst>
          </p:cNvPr>
          <p:cNvSpPr>
            <a:spLocks noGrp="1"/>
          </p:cNvSpPr>
          <p:nvPr/>
        </p:nvSpPr>
        <p:spPr>
          <a:xfrm>
            <a:off x="8477250" y="4352925"/>
            <a:ext cx="29527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The ordinary fusion gain</a:t>
            </a:r>
          </a:p>
          <a:p>
            <a:pPr>
              <a:defRPr sz="19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did not transfer under</a:t>
            </a:r>
          </a:p>
          <a:p>
            <a:pPr>
              <a:defRPr sz="19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this source split</a:t>
            </a:r>
          </a:p>
        </p:txBody>
      </p:sp>
    </p:spTree>
    <p:extLst>
      <p:ext uri="{BB962C8B-B14F-4D97-AF65-F5344CB8AC3E}">
        <p14:creationId xmlns:p14="http://schemas.microsoft.com/office/powerpoint/2010/main" val="74962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084418-6418-46AD-BCEB-A5C2D587FAF6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Explainability and error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65E49E-54D4-4204-A85A-40F5C632EF40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5A3E9-500A-46B4-AD01-5E2B88D3AB25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Selected case 3gvt03. Correct class-0 prediction. Explanations do not verify the truth of a post.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8688" y="1743075"/>
            <a:ext cx="3524250" cy="3524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AD9E5E-6BD6-4279-9E57-B1799CA1E081}"/>
              </a:ext>
            </a:extLst>
          </p:cNvPr>
          <p:cNvSpPr>
            <a:spLocks noGrp="1"/>
          </p:cNvSpPr>
          <p:nvPr/>
        </p:nvSpPr>
        <p:spPr>
          <a:xfrm>
            <a:off x="5334000" y="18573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Attention on embedded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7D427E-6617-4F76-8602-CA2F50769EF9}"/>
              </a:ext>
            </a:extLst>
          </p:cNvPr>
          <p:cNvSpPr>
            <a:spLocks noGrp="1"/>
          </p:cNvSpPr>
          <p:nvPr/>
        </p:nvSpPr>
        <p:spPr>
          <a:xfrm>
            <a:off x="5334000" y="3209925"/>
            <a:ext cx="5905500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The prediction is correct.</a:t>
            </a:r>
          </a:p>
          <a:p>
            <a:endParaRPr sz="2250" b="0">
              <a:solidFill>
                <a:srgbClr val="173040"/>
              </a:solidFill>
              <a:latin typeface="Arial"/>
              <a:ea typeface="Arial"/>
              <a:cs typeface="Arial"/>
            </a:endParaRPr>
          </a:p>
          <a:p>
            <a:pPr>
              <a:defRPr sz="225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The heatmap suggests a possible</a:t>
            </a:r>
          </a:p>
          <a:p>
            <a:pPr>
              <a:defRPr sz="225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visual shortcut.</a:t>
            </a:r>
          </a:p>
        </p:txBody>
      </p:sp>
    </p:spTree>
    <p:extLst>
      <p:ext uri="{BB962C8B-B14F-4D97-AF65-F5344CB8AC3E}">
        <p14:creationId xmlns:p14="http://schemas.microsoft.com/office/powerpoint/2010/main" val="184880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8029A-8A45-E3BC-0713-31A458FB2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EE9A20-6A41-4097-8DCB-87642FDB952A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Evaluation limitations and future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B03AC-1C45-4848-9A47-37536D952E24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56773"/>
                </a:solidFill>
                <a:latin typeface="Arial"/>
                <a:ea typeface="Arial"/>
                <a:cs typeface="Arial"/>
              </a:rPr>
              <a:t>1</a:t>
            </a:r>
            <a:r>
              <a:rPr lang="en-GB" sz="1350" b="0" dirty="0">
                <a:solidFill>
                  <a:srgbClr val="5567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B2DD7-B2BC-4D7A-BC78-F33E9F2E7CDA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Confidence intervals condition on fixed checkpoints and sampled cases.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DF4B01-0A60-4341-B5FA-FBAC5A6FECA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Few source communities in validation and test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3B014-AEA5-4B35-81D9-4DEF261BF21C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Class-dependent image loss changes the evaluated sample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29B33-20F2-4207-A523-2B72B0FC9E5C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45 perceptual duplicate candidates still need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7A4CA5-DA94-451A-9A59-4A2AE0FC2AED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Repeated source splits, seeds and chronological training</a:t>
            </a:r>
          </a:p>
        </p:txBody>
      </p:sp>
    </p:spTree>
    <p:extLst>
      <p:ext uri="{BB962C8B-B14F-4D97-AF65-F5344CB8AC3E}">
        <p14:creationId xmlns:p14="http://schemas.microsoft.com/office/powerpoint/2010/main" val="34518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17BB89-4813-4130-9B0C-58798395CA9D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040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32347-16EB-46FC-B2E3-2B3A5AE074AB}"/>
              </a:ext>
            </a:extLst>
          </p:cNvPr>
          <p:cNvSpPr>
            <a:spLocks noGrp="1"/>
          </p:cNvSpPr>
          <p:nvPr/>
        </p:nvSpPr>
        <p:spPr>
          <a:xfrm>
            <a:off x="11087100" y="63436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56773"/>
                </a:solidFill>
                <a:latin typeface="Arial"/>
                <a:ea typeface="Arial"/>
                <a:cs typeface="Arial"/>
              </a:rPr>
              <a:t>1</a:t>
            </a:r>
            <a:r>
              <a:rPr lang="en-GB" sz="1350" b="0" dirty="0">
                <a:solidFill>
                  <a:srgbClr val="556773"/>
                </a:solidFill>
                <a:latin typeface="Arial"/>
                <a:ea typeface="Arial"/>
                <a:cs typeface="Arial"/>
              </a:rPr>
              <a:t>3</a:t>
            </a:r>
            <a:endParaRPr sz="1350" b="0" dirty="0">
              <a:solidFill>
                <a:srgbClr val="5567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546D0D-7A1C-44DD-AB59-6687EEC579F9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10382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5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6773"/>
                </a:solidFill>
                <a:latin typeface="Arial"/>
                <a:ea typeface="Arial"/>
                <a:cs typeface="Arial"/>
              </a:rPr>
              <a:t>The evaluation design changes what can be concluded about multimodal improvement.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16E2B8-C5A4-4F42-9479-FDD8E5F689E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RoBERTa was the strongest single modality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12171-9F01-4E45-801B-7A4AAD11F221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17304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3040"/>
                </a:solidFill>
                <a:latin typeface="Arial"/>
                <a:ea typeface="Arial"/>
                <a:cs typeface="Arial"/>
              </a:rPr>
              <a:t>Late fusion improved the ordinary holdout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377A74-1046-411A-B7A4-85251FC637A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The gain did not transfer to the source-disjoint test</a:t>
            </a:r>
          </a:p>
        </p:txBody>
      </p:sp>
    </p:spTree>
    <p:extLst>
      <p:ext uri="{BB962C8B-B14F-4D97-AF65-F5344CB8AC3E}">
        <p14:creationId xmlns:p14="http://schemas.microsoft.com/office/powerpoint/2010/main" val="44813398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1365</TotalTime>
  <Words>591</Words>
  <Application>Microsoft Office PowerPoint</Application>
  <DocSecurity>0</DocSecurity>
  <PresentationFormat>Widescreen</PresentationFormat>
  <Paragraphs>137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PG-Abdulzahra, Ali</cp:lastModifiedBy>
  <cp:revision>2</cp:revision>
  <dcterms:created xsi:type="dcterms:W3CDTF">2026-09-22T08:31:28Z</dcterms:created>
  <dcterms:modified xsi:type="dcterms:W3CDTF">2026-09-23T12:03:45Z</dcterms:modified>
</cp:coreProperties>
</file>